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9" r:id="rId20"/>
    <p:sldId id="261" r:id="rId9"/>
    <p:sldId id="268" r:id="rId1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83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compared three ways of verifying a real-time app to see which finds which defects, on a real, high-quality system we did not modify.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 normal page (ask, then answer), the server pushes data anytime, so bugs depend on timing you don't control. Exploratory was added by the course; the SUT stays unmodified, so we find real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4E9D-8561-20E1-9128-546A0FB19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2F13F-EAEA-D00B-30CD-2B9BC0BEF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5A3CA-0FD2-D587-5665-3885D2813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 normal page (ask, then answer), the server pushes data anytime, so bugs depend on timing you don't control. Exploratory was added by the course; the SUT stays unmodified, so we find real defects.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9A63D-1418-5225-4612-AB4F6E25B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24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each term in one plain sentence before the comparison. Static = read the code; Dynamic = automated browser testing with Playwright; Exploratory = a human exploring the running app in structured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385C9-E201-B359-D86D-A3C2E83A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E4CB4-C019-BC5F-799F-E6A02BE7A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2EFDE-5709-99F5-9893-ADA68DD93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each term in one plain sentence before the comparison. Static = read the code; Dynamic = automated browser testing with Playwright; Exploratory = a human exploring the running app in structured sessions.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C5419-FA0E-6F14-6E36-5E9A982C8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73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spine of the talk: each lens sees something different, all aimed at the same code layer, which makes the comparison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runs the Playwright suite on every commit; on a mature app it mostly passes, so its value is repeatable verification, not raw discovery. Show the green pipeline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thesis. Address 'shouldn't dynamic find more?' head-on: a code read sees everything and the app is high quality, so static finds most, but dynamic is the only one you can re-run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and confident: the scale of the SUT is a strength of the study, not an excuse. It is why the comparison is realistic.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directly onto the report's Threats to Validity: each improvement answers a specific threat.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complementarity. Be ready to walk one finding start to finish: the D-002 to D-003 reconnect chain is your best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don't read this slide; leave it up during Q&amp;A. For the tool choice cite [1] to [4]; for test reliability, [5].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ci-ru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Automated Dynamic UI Verification to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Walkthroughs in Asynchronous Systems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Innocent Onwukanjo (202487225)   ·   Kelechukwu Innocent Ede (202580616)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 9839, Software Verification &amp; Validation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Test: Uptime Kuma 1.23.9 (real, unmodified)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SzPct val="100000"/>
            </a:pPr>
            <a:r>
              <a:rPr lang="en-US" sz="4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4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 well does automated dynamic testing (Playwright) find async UI-state bugs, versus a static walkthrough and exploratory testing?</a:t>
            </a:r>
          </a:p>
          <a:p>
            <a:pPr marL="254000" indent="-254000">
              <a:buSzPct val="100000"/>
              <a:buFontTx/>
              <a:buChar char="•"/>
            </a:pPr>
            <a:endParaRPr lang="en-US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8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40F83-32E8-50CE-00B0-E0CB3057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FEAB42-83D4-0814-3ABA-2B83EB298665}"/>
              </a:ext>
            </a:extLst>
          </p:cNvPr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BABF15-5569-663C-B4B2-8F2759D6FA77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6D074D-CD3B-A35B-2DCE-764FE430684B}"/>
              </a:ext>
            </a:extLst>
          </p:cNvPr>
          <p:cNvSpPr/>
          <p:nvPr/>
        </p:nvSpPr>
        <p:spPr>
          <a:xfrm>
            <a:off x="65532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NG" sz="2400" b="1" dirty="0"/>
              <a:t>The Async UI Paradigm</a:t>
            </a:r>
            <a:endParaRPr lang="en-NG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G" b="1" dirty="0"/>
              <a:t>Server-Pushed Updates:</a:t>
            </a:r>
            <a:r>
              <a:rPr lang="en-NG" dirty="0"/>
              <a:t> </a:t>
            </a:r>
            <a:r>
              <a:rPr lang="en-NG" dirty="0" err="1"/>
              <a:t>WebSockets</a:t>
            </a:r>
            <a:r>
              <a:rPr lang="en-NG" dirty="0"/>
              <a:t> replace the traditional request-and-response model, allowing the server to push data at any millisecond.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G" b="1" dirty="0"/>
              <a:t>Continuous Mutation:</a:t>
            </a:r>
            <a:r>
              <a:rPr lang="en-NG" dirty="0"/>
              <a:t> The UI updates instantly without requiring page refreshes or user actions.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G" b="1" dirty="0"/>
              <a:t>Unpredictable Data Flow:</a:t>
            </a:r>
            <a:r>
              <a:rPr lang="en-NG" dirty="0"/>
              <a:t> Data can arrive at any moment, breaking the reliable sequence guarantees of standard web pages. </a:t>
            </a:r>
          </a:p>
          <a:p>
            <a:endParaRPr lang="en-US" b="1" dirty="0"/>
          </a:p>
          <a:p>
            <a:r>
              <a:rPr lang="en-NG" b="1" dirty="0"/>
              <a:t>Timing Bugs &amp; State Anomalies</a:t>
            </a:r>
            <a:endParaRPr lang="en-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G" b="1" dirty="0"/>
              <a:t>Race Conditions:</a:t>
            </a:r>
            <a:r>
              <a:rPr lang="en-NG" dirty="0"/>
              <a:t> Rapid updates can arrive duplicated or out of order, causing the UI to render incorrect transitional states.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G" b="1" dirty="0"/>
              <a:t>Stale States:</a:t>
            </a:r>
            <a:r>
              <a:rPr lang="en-NG" dirty="0"/>
              <a:t> Dropped connections can leave the dashboard silently frozen while appearing to show live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G" b="1" dirty="0"/>
              <a:t>Reconnect Vulnerabilities:</a:t>
            </a:r>
            <a:r>
              <a:rPr lang="en-NG" dirty="0"/>
              <a:t> Tearing down and rebuilding state creates dangerous "clear-then-refill" windows where data is temporarily lost (e.g., flashing an "Unknown" status).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G" b="1" dirty="0"/>
              <a:t>Unbounded Growth:</a:t>
            </a:r>
            <a:r>
              <a:rPr lang="en-NG" dirty="0"/>
              <a:t> Improperly handling update history during reconnects can cause data lists to grow infinitely, leading to memory leaks</a:t>
            </a:r>
          </a:p>
          <a:p>
            <a:pPr>
              <a:buSzPct val="100000"/>
            </a:pPr>
            <a:endParaRPr lang="en-US" sz="18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2138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 The Three Techniques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walkthrough (T1), </a:t>
            </a: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source code by hand to reason about how it behaves, without running it.</a:t>
            </a:r>
            <a:endParaRPr lang="en-US" sz="2400" dirty="0"/>
          </a:p>
          <a:p>
            <a:pPr marL="254000" indent="-254000">
              <a:buSzPct val="100000"/>
              <a:buChar char="•"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 (Playwright, T2), </a:t>
            </a: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app in a real browser and automatically checking what the user sees; </a:t>
            </a:r>
            <a:endParaRPr lang="en-US" sz="2400" dirty="0"/>
          </a:p>
          <a:p>
            <a:pPr marL="254000" indent="-254000">
              <a:buSzPct val="100000"/>
              <a:buChar char="•"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(T3), </a:t>
            </a: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testing the running app in guided, time boxed sessions, designing tests while learning 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numbered D-001, D-002, ... (for example, D-005).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DB81B-D9D5-2A61-5360-7C0CE041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AC86F9-5DB3-A328-0C2A-F12A5E164603}"/>
              </a:ext>
            </a:extLst>
          </p:cNvPr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Playwright?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144A47-807F-B2BB-C09F-2646B5814AFE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1B0B7D-AE44-42D4-323E-207B73F72015}"/>
              </a:ext>
            </a:extLst>
          </p:cNvPr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NG" b="1" dirty="0"/>
              <a:t>Dynamic UI Automation</a:t>
            </a:r>
          </a:p>
          <a:p>
            <a:r>
              <a:rPr lang="en-NG" dirty="0"/>
              <a:t>An open-source framework developed by Microsoft for automated end-to-end (E2E) testing.</a:t>
            </a:r>
          </a:p>
          <a:p>
            <a:r>
              <a:rPr lang="en-NG" dirty="0"/>
              <a:t>Drives a real browser engine (Chromium, Firefox, WebKit) just like a human user would.</a:t>
            </a:r>
          </a:p>
          <a:p>
            <a:r>
              <a:rPr lang="en-NG" dirty="0"/>
              <a:t>Acts as a "black box" observer, executing the application and verifying the observable UI state.</a:t>
            </a:r>
            <a:endParaRPr lang="en-US" dirty="0"/>
          </a:p>
          <a:p>
            <a:endParaRPr lang="en-US" dirty="0"/>
          </a:p>
          <a:p>
            <a:r>
              <a:rPr lang="en-NG" b="1" dirty="0"/>
              <a:t>Built for Async Systems</a:t>
            </a:r>
          </a:p>
          <a:p>
            <a:r>
              <a:rPr lang="en-NG" dirty="0"/>
              <a:t>Identified as the best-performing tool for dynamic, JavaScript-heavy web applications.</a:t>
            </a:r>
          </a:p>
          <a:p>
            <a:r>
              <a:rPr lang="en-NG" b="1" dirty="0"/>
              <a:t>Built-in Auto-waiting:</a:t>
            </a:r>
            <a:r>
              <a:rPr lang="en-NG" dirty="0"/>
              <a:t> Intended to reduce test flakiness in asynchronous environments.</a:t>
            </a:r>
          </a:p>
          <a:p>
            <a:r>
              <a:rPr lang="en-NG" b="1" dirty="0"/>
              <a:t>Web-first Assertions:</a:t>
            </a:r>
            <a:r>
              <a:rPr lang="en-NG" dirty="0"/>
              <a:t> Ensures stable checks over brittle timing or URL validations.</a:t>
            </a:r>
          </a:p>
          <a:p>
            <a:endParaRPr lang="en-US" dirty="0"/>
          </a:p>
          <a:p>
            <a:r>
              <a:rPr lang="en-NG" b="1" dirty="0"/>
              <a:t>Repeatable Verification</a:t>
            </a:r>
          </a:p>
          <a:p>
            <a:r>
              <a:rPr lang="en-NG" dirty="0"/>
              <a:t>In our study, Playwright provides objective, repeatable confirmation of correct </a:t>
            </a:r>
            <a:r>
              <a:rPr lang="en-NG" dirty="0" err="1"/>
              <a:t>behavior</a:t>
            </a:r>
            <a:r>
              <a:rPr lang="en-NG" dirty="0"/>
              <a:t>.</a:t>
            </a:r>
          </a:p>
          <a:p>
            <a:r>
              <a:rPr lang="en-NG" dirty="0"/>
              <a:t>Excels at continuous regression testing within a CI pipeline.</a:t>
            </a:r>
          </a:p>
          <a:p>
            <a:r>
              <a:rPr lang="en-NG" dirty="0"/>
              <a:t>Confirmed transient bugs (D-005) by reproducing reload </a:t>
            </a:r>
            <a:r>
              <a:rPr lang="en-NG" dirty="0" err="1"/>
              <a:t>behavior</a:t>
            </a:r>
            <a:r>
              <a:rPr lang="en-NG" dirty="0"/>
              <a:t> consistently.</a:t>
            </a:r>
          </a:p>
          <a:p>
            <a:endParaRPr lang="en-NG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F6B6DD-AA62-FD26-31B8-169336CEA76D}"/>
              </a:ext>
            </a:extLst>
          </p:cNvPr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is our dynamic testing tool (T2).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51044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One Async Target, Three Lenses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SUT,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Kuma 1.23.9, a real Vue and Socket.io dashboard, run unmodified.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version,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we read is the exact code the tests run.</a:t>
            </a:r>
            <a:endParaRPr lang="en-US" sz="1600" dirty="0"/>
          </a:p>
        </p:txBody>
      </p:sp>
      <p:pic>
        <p:nvPicPr>
          <p:cNvPr id="5" name="Image 0" descr="/home/innocent/projects/MastersProjects/Spring-2026/SVV-Project/kuma-vv/docs/exploratory/evidence/c1-1-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280160"/>
            <a:ext cx="576072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4434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SUT dashboard: two seeded monitors (up and down) and the Quick-Stats table.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1155680" cy="153619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Static walkthrough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reads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subtle logic and async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Dynamic (Playwright)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UI-observable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verification,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Exploratory (Tours)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UI-observable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surprising, user facing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1206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7,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async faults found by reasoning about the code.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Exploratory, 3,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faults, name overflow (D-009) and frozen clone (D-010).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1,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D-005; mostly it verifies correct behaviour in CI.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Overlap,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D-003 static and exploratory, D-005 static and dynamic; D-008 was a false alarm.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301752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Static walkthrough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Exploratory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Dynamic (Playwright)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 0" descr="/home/innocent/projects/MastersProjects/Spring-2026/SVV-Project/kuma-vv/docs/exploratory/evidence/c5-1-boundary-form-fill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9680" y="1371600"/>
            <a:ext cx="283464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0" y="5989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Supermodel Tour: a very long monitor name, which overflows the table (D-009).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What Each Technique Caught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walkthrough, 7 defects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code hides nothing: we followed the reconnect path and saw the empty gap before any test existed.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finds what runtime hides: D-001 needs hours of running to appear, but as a missing line it took seconds to spot.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testing, 3 defects the others missed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notices what nobody thought to assert: no plan included a 400 character name, but a human tried it and the table broke (D-009).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confirmed what works: create, edit and delete, input validation and two tab syncing were all correct.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testing, 1 confirmed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sees the screen, so internal faults stay invisible, and on a mature application most checks simply pass.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only one that repeats: it runs on every commit with no human, and it will catch the day this behaviour breaks.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techniques, a report, and a CI pipeline in a short window before the defense.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Kuma is a real, industry standard codebase, not a toy, so reading the async layer and standing up a reproducible environment was substantial work.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bugs,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reconnect anomalies are timing dependent, hard to reproduce on demand with a test.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Areas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timing instead of hoping for it: intercept the WebSocket directly so the reconnect fault appears on demand, rather than restarting the server and waiting to get lucky.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reading and the automation together: we finished the walkthrough before writing any tests, so neither fed the other. Side by side, each finding could be confirmed while it was still fresh.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past the front end: our review covered the state layer in socket.js only, and never opened the server side that actually produces the heartbeats.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tours we parked: Saboteur and All Nighter were dropped when time ran out, and All Nighter is the one that would have surfaced the memory growth we only caught by reading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asked which technique best catches state bugs in an interface driven by pushed events, and we tested it on real software we did not modify.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real defects in shipping software: seven from reading the code, three from exploring, one confirmed by automation, and two of them found twice.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technique found everything, and each one caught something the other two could not.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tell another team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all three and use them for what they are good at. Drop any one and a whole class of fault has nobody looking for it.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promises: every dynamic result here came from the pipeline, which starts the app and re-runs the whole suite on every commit.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Wang, W. Dou, Y. Gao, C. Gao, F. Qin, K. Yin, and J. Wei, “A comprehensive study on real world concurrency bugs in Node.js,” in Proc. IEEE/ACM Int. Conf. Automated Software Engineering (ASE), 2017, pp. 520–531.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C. Q. Adamsen, A. Møller, S. Alimadadi, and F. Tip, “Practical AJAX race detection for JavaScript web applications,” in Proc. ACM ESEC/FSE, 2018, pp. 38–48.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Microsoft, “Playwright: Fast and reliable end-to-end testing for modern web apps,” Playwright Documentation, 2024. [Online]. Available: https://playwright.dev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A. Tymoshchuk, “The Evolution of Test Automation: From Selenium to Playwright...,” International Journal of Computer (IJC), vol. 54, no. 1, pp. 37–45, 2025.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P. Gosik and M. Miłosz, “Comparative analysis of Cypress and Playwright frameworks in end-to-end testing for applications based on Angular,” Journal of Computer Sciences Institute, vol. 36, pp. 320–327, 2025.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S. Talakola, “Automated End to End Testing with Playwright for React Applications,” IJERET, vol. 5, no. 1, pp. 38–47, 2024.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N. Hashemi, A. Tahir, A. Shi, S. Rasheed, and R. Blagojevic, “A Systematic Evaluation of Environmental Flakiness in JavaScript Tests,” arXiv:2602.19098, 2026.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within the last ten years.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Why They Are Complementary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one question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automated dynamic testing find state bugs in an asynchronous interface, compared with a static walkthrough and exploratory testing?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count alone automation came last, 1 against 7 and 3. If the only question is who finds the most bugs, automation loses here.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count is the wrong measure: a walkthrough happens once and a tester gets tired, while the suite runs again on every commit.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 in practice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technique failed exactly where another succeeded, so the useful question is not which one wins, it is which one to use for what.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code to find deep timing faults, automate so they cannot come back, and explore to catch what nobody thought to check.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Suite in Action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commit: the pipeline starts Uptime Kuma 1.23.9, installs the browser and runs the whole Playwright suite.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run finished green in 1 minute 31 seconds, and the HTML report is kept as a downloadable artifact.</a:t>
            </a:r>
          </a:p>
        </p:txBody>
      </p:sp>
      <p:pic>
        <p:nvPicPr>
          <p:cNvPr id="9" name="CI Run" descr="GitHub Actions run of the Playwright suit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81200" y="2606040"/>
            <a:ext cx="8229600" cy="3688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1510</Words>
  <Application>Microsoft Office PowerPoint</Application>
  <PresentationFormat>Widescreen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Automated Dynamic UI Verification to Static Walkthroughs in Asynchronous Systems</dc:title>
  <dc:subject>PptxGenJS Presentation</dc:subject>
  <dc:creator>Innocent Onwukanjo; Kelechukwu Innocent Ede</dc:creator>
  <cp:lastModifiedBy>Innocent Onwukanjo</cp:lastModifiedBy>
  <cp:revision>2</cp:revision>
  <dcterms:created xsi:type="dcterms:W3CDTF">2026-07-18T17:17:13Z</dcterms:created>
  <dcterms:modified xsi:type="dcterms:W3CDTF">2026-07-18T19:28:57Z</dcterms:modified>
</cp:coreProperties>
</file>